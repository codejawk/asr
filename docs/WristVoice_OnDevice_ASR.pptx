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</c:v>
                </c:pt>
              </c:strCache>
            </c:strRef>
          </c:tx>
          <c:spPr>
            <a:solidFill>
              <a:srgbClr val="1428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8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28A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TTS clip (in-domain)</c:v>
                  </c:pt>
                  <c:pt idx="1">
                    <c:v>held-out commands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0.004</c:v>
                </c:pt>
                <c:pt idx="1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WER</c:v>
                </c:pt>
              </c:strCache>
            </c:strRef>
          </c:tx>
          <c:spPr>
            <a:solidFill>
              <a:srgbClr val="1428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28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28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28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FF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6FF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Granite 4.1</c:v>
                  </c:pt>
                  <c:pt idx="1">
                    <c:v>Cohere</c:v>
                  </c:pt>
                  <c:pt idx="2">
                    <c:v>Canary-Qwen</c:v>
                  </c:pt>
                  <c:pt idx="3">
                    <c:v>Parakeet 0.6B</c:v>
                  </c:pt>
                  <c:pt idx="4">
                    <c:v>Whisper-v3</c:v>
                  </c:pt>
                  <c:pt idx="5">
                    <c:v>Nemotron*</c:v>
                  </c:pt>
                  <c:pt idx="6">
                    <c:v>Moonshine*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5.33</c:v>
                </c:pt>
                <c:pt idx="1">
                  <c:v>5.42</c:v>
                </c:pt>
                <c:pt idx="2">
                  <c:v>5.63</c:v>
                </c:pt>
                <c:pt idx="3">
                  <c:v>6.32</c:v>
                </c:pt>
                <c:pt idx="4">
                  <c:v>7.44</c:v>
                </c:pt>
                <c:pt idx="5">
                  <c:v>8.2</c:v>
                </c:pt>
                <c:pt idx="6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MB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6FF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6FF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Whisper-v3 (fp16)</c:v>
                  </c:pt>
                  <c:pt idx="1">
                    <c:v>Nemotron (int4)</c:v>
                  </c:pt>
                  <c:pt idx="2">
                    <c:v>Moonshine Tiny</c:v>
                  </c:pt>
                  <c:pt idx="3">
                    <c:v>Zipformer stream</c:v>
                  </c:pt>
                  <c:pt idx="4">
                    <c:v>WristVoice (target)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3000</c:v>
                </c:pt>
                <c:pt idx="1">
                  <c:v>670</c:v>
                </c:pt>
                <c:pt idx="2">
                  <c:v>34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0"/>
          <c:min val="1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Tech. Domain :  Gen AI  /  Speech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2788920"/>
            <a:ext cx="12188952" cy="1371600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8803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Speech Recognition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ASR for Wearables  ·  Project WristVoice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091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 and System AI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2026. 08. 30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1737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20240" y="1783080"/>
            <a:ext cx="0" cy="54864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03120" y="1737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737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589520" y="1783080"/>
            <a:ext cx="0" cy="54864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1737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920240" y="2926080"/>
            <a:ext cx="0" cy="54864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3120" y="2880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880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589520" y="2926080"/>
            <a:ext cx="0" cy="54864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0" y="2880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920240" y="4069080"/>
            <a:ext cx="0" cy="54864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03120" y="4023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Plan, Architecture &amp; Quantization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4023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7589520" y="4069080"/>
            <a:ext cx="0" cy="54864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0" y="4023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the Art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166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920240" y="5212080"/>
            <a:ext cx="0" cy="548640"/>
          </a:xfrm>
          <a:prstGeom prst="line">
            <a:avLst/>
          </a:prstGeom>
          <a:noFill/>
          <a:ln w="25400">
            <a:solidFill>
              <a:srgbClr val="1428A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03120" y="5166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Summary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5577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 (build &amp; verify)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2026.07 ~ 2026.12 (6 mo)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2027.01 ~ 2027.06 (6 mo)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Commercialization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2027.07 ~ 2027.12 (6 mo)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2377440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6072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Introduction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974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tiny on-device speech models for a smartwatch (Snapdragon Wear Elite / SW6100):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 — general recognition (dictation), ≤ 10 MB, duty-cycled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 — commands + intent/slot, always-on, ≤ 5 MB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on-device, streaming, on the NPU (privacy + offline)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4343400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" y="4343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Work (@ Phase 1 / PoC)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66344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full pipeline: data → teacher labels → student → int4 → device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 a small streaming student from a Whisper teacher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a working command recognizer, measured, within the 5 MB budget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09360" y="1143000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82512" y="1143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(Deliverable)</a:t>
            </a:r>
            <a:endParaRPr lang="en-US" sz="10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0876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0233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I (PoC)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Runnable pipeline + working command model (built)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II (Pilot)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10 MB model via distillation + int4 QAT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QNN deploy on SW6100 + on-device personalization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309360" y="3246120"/>
            <a:ext cx="2926080" cy="274320"/>
          </a:xfrm>
          <a:prstGeom prst="roundRect">
            <a:avLst>
              <a:gd name="adj" fmla="val 13333"/>
            </a:avLst>
          </a:prstGeom>
          <a:solidFill>
            <a:srgbClr val="F2F4F7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82512" y="3246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Benefit &amp; Remark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355080" y="3566160"/>
            <a:ext cx="5349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Faster, private voice on the wrist — no cloud round-trip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memory &amp; power: always-on commands at eNPU milliwatts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SLU: “set a timer for 5 min” → structured action</a:t>
            </a:r>
            <a:endParaRPr lang="en-US" sz="10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offline assistant, dictation, accessibility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Background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Market Trend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voice is expanding: capable speech models move onto phones and watches — latency, memory, power and privacy become critical.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+ tiny memory is the hard part: a watch must recognize speech as you talk, in ≤ 10 MB, on the NPU.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Distillation-first is the winning approach: a large teacher lets a ~10 M-param student punch far above its weight.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143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Solutions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(OpenAI): strong but offline &amp; GB-scale — a teacher, not an on-device model.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Zipformer / Conformer (k2, NeMo): streaming transducers, standard ops — deploy on the NPU today.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Moonshine / Nemotron streaming: edge-oriented, but still 3×+ over a 10 MB budget.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KWS: BC-ResNet, open-vocab hypernetworks for command spotting.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Introduction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6035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10 MB general + 5 MB command speech recognizer on the watch — streaming, on-device.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approach: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specialists distilled from one large teacher — transducer for dictation, CTC + intent/slot for commands — compressed with int4.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outcome: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plug-and-play streaming recognizer + on-device SLU for SW6100, no cloud.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40880" y="1371600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0" y="1371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  →  log-mel (100 Hz)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372600" y="1938528"/>
            <a:ext cx="0" cy="292608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40880" y="2231136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FBE3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22311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 — Commands  (eNPU, always-on)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72600" y="2798064"/>
            <a:ext cx="0" cy="292608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40880" y="3090672"/>
            <a:ext cx="466344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0" y="309067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gate: wake word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72600" y="3429000"/>
            <a:ext cx="0" cy="292608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40880" y="3721608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0" y="37216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 — General ASR  (Hexagon, duty-cycled)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372600" y="4288536"/>
            <a:ext cx="0" cy="292608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40880" y="4581144"/>
            <a:ext cx="4663440" cy="54864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0" y="45811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 /  intent + slot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Roadmap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5156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independent model tracks — commands (Model 2) and general recognition (Model 1) — plus shared infrastructure.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201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63240"/>
                <a:gridCol w="310896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— PoC  (2026.12)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 — Pilot  (2027.06)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F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Commercialization  (2027.12)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2 — Commands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(≤ 5 MB, always-on)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BUILT: command recognizer measured — 0.20 WER, 2.55 MB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Open-vocab + intent/slot SLU; train on real command data (SLURP / Speech Commands)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Always-on eNPU deploy + on-device personalization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1 — General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(≤ 10 MB, dictation)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+ budget proven (int4 = 5.17 MB); data-scale finding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Distil from Whisper on Loquacious (25k h) + int4 QAT ≤ 10 MB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QNN on SW6100; streaming free-form dictation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infra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Whisper teacher + distillation pipeline (GPU/CPU)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pruning + wrist recordings + benchmarks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 integration &amp; OTA updates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5897880"/>
            <a:ext cx="11201400" cy="365760"/>
          </a:xfrm>
          <a:prstGeom prst="rect">
            <a:avLst/>
          </a:prstGeom>
          <a:solidFill>
            <a:srgbClr val="F2F4F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Product / Project:  Galaxy Watch — Model 2 (voice commands)  +  Model 1 (dictation)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Development Plan &amp; Methodology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student small by construction (~10 M params), not by shrinking a big model.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 from a large teacher (Whisper / Parakeet) — the dominant accuracy lever at this size.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head per job: RNN-T transducer for dictation, CTC + FST + intent/slot for commands.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 mixed-precision (QAT) + pruning to hit the 10 MB / 5 MB budgets on QNN.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977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(unlabeled + wrist)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24912" y="4434840"/>
            <a:ext cx="265176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17520" y="39776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BE3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0" y="3977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teacher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(GPU, label)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02352" y="4434840"/>
            <a:ext cx="265176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94960" y="39776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0" y="3977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training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(RNN-T + CTC-KD)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79792" y="4434840"/>
            <a:ext cx="265176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72400" y="39776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FBE3D2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0" y="3977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 QAT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pruning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857232" y="4434840"/>
            <a:ext cx="265176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49840" y="3977640"/>
            <a:ext cx="2057400" cy="914400"/>
          </a:xfrm>
          <a:prstGeom prst="roundRect">
            <a:avLst>
              <a:gd name="adj" fmla="val 6000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49840" y="3977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QNN deploy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(SW6100)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teacher runs once on a GPU to label data, then is discarded — only the small students ship.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Model Architecture — Teacher vs Student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5532120" cy="5074920"/>
          </a:xfrm>
          <a:prstGeom prst="roundRect">
            <a:avLst>
              <a:gd name="adj" fmla="val 1081"/>
            </a:avLst>
          </a:prstGeom>
          <a:solidFill>
            <a:srgbClr val="F2F4F7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— Whisper-large-v3   (offline, GPU-only, NOT shipped)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91640"/>
            <a:ext cx="516636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attention encoder–decoder (AED) Transformer — offline, autoregressive.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~1.55 B params (~3 GB fp16 / ~1.5 GB int8).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Encoder: 80-mel → 2× stride-2 conv → 32 Transformer blocks (d 1280, 20 heads).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Decoder: cross-attention, BPE tokens, generated left-to-right.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pseudo-label audio + provide soft targets for distillation.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097280"/>
            <a:ext cx="5532120" cy="5074920"/>
          </a:xfrm>
          <a:prstGeom prst="roundRect">
            <a:avLst>
              <a:gd name="adj" fmla="val 1081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— Streaming Transducer   (on-device, shipped)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691640"/>
            <a:ext cx="51663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RNN-T transducer — streaming / causal, low latency.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~8–11 M params → ≤ 10 MB (int4). Encoder = 85% of it.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80-mel, 25 ms / 10 ms; causal online CMVN.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Encoder: conv subsample 100→25 Hz → Conformer-lite (d224 ×11) or Mamba/SSM (d256 ×14).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Predictor: stateless (embedding + kernel-2 conv). Joiner → BPE-500. Aux CTC head.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553212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553212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296912" y="5760720"/>
            <a:ext cx="100584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06640" y="553212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553212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subsample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348472" y="5760720"/>
            <a:ext cx="100584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58200" y="553212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58200" y="553212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400032" y="5760720"/>
            <a:ext cx="100584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09760" y="553212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09760" y="553212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predictor+joiner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451592" y="5760720"/>
            <a:ext cx="100584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561320" y="5532120"/>
            <a:ext cx="93268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61320" y="5532120"/>
            <a:ext cx="93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Student Architecture — RNN-T Transducer in Detail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965960" cy="603504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7160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80-mel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causal CMVN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87168" y="1673352"/>
            <a:ext cx="182880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97480" y="1371600"/>
            <a:ext cx="1965960" cy="603504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37160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 subsample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→ 25 Hz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81728" y="1673352"/>
            <a:ext cx="182880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92040" y="1371600"/>
            <a:ext cx="2331720" cy="603504"/>
          </a:xfrm>
          <a:prstGeom prst="roundRect">
            <a:avLst>
              <a:gd name="adj" fmla="val 9091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371600"/>
            <a:ext cx="2331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 ★85%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Conformer / Mamba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42048" y="1673352"/>
            <a:ext cx="182880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1371600"/>
            <a:ext cx="1463040" cy="603504"/>
          </a:xfrm>
          <a:prstGeom prst="roundRect">
            <a:avLst>
              <a:gd name="adj" fmla="val 9091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52360" y="137160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33688" y="1673352"/>
            <a:ext cx="182880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0" y="1371600"/>
            <a:ext cx="2514600" cy="603504"/>
          </a:xfrm>
          <a:prstGeom prst="roundRect">
            <a:avLst>
              <a:gd name="adj" fmla="val 9091"/>
            </a:avLst>
          </a:prstGeom>
          <a:solidFill>
            <a:srgbClr val="F2F4F7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0" y="137160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BPE-500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→ 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53328" y="1984248"/>
            <a:ext cx="0" cy="237744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92040" y="2240280"/>
            <a:ext cx="2331720" cy="420624"/>
          </a:xfrm>
          <a:prstGeom prst="roundRect">
            <a:avLst>
              <a:gd name="adj" fmla="val 13043"/>
            </a:avLst>
          </a:prstGeom>
          <a:solidFill>
            <a:srgbClr val="FDEFE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224028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 CTC head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52360" y="2240280"/>
            <a:ext cx="1463040" cy="420624"/>
          </a:xfrm>
          <a:prstGeom prst="roundRect">
            <a:avLst>
              <a:gd name="adj" fmla="val 13043"/>
            </a:avLst>
          </a:prstGeom>
          <a:solidFill>
            <a:srgbClr val="FDEFE0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52360" y="224028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(stateless)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183880" y="1984248"/>
            <a:ext cx="0" cy="237744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headEnd type="triangle"/>
          </a:ln>
        </p:spPr>
      </p:sp>
      <p:sp>
        <p:nvSpPr>
          <p:cNvPr id="25" name="Text 23"/>
          <p:cNvSpPr txBox="1"/>
          <p:nvPr/>
        </p:nvSpPr>
        <p:spPr>
          <a:xfrm>
            <a:off x="9006840" y="224028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 token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71800"/>
          <a:ext cx="11201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80644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 (effect)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 (log-mel + CMVN)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80-mel @ 100 Hz; causal online CMVN → streaming-safe normalization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Log-mel FBank; online CMVN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 subsampling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stride-2 convs, 100→25 Hz → 4× less downstream compute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Conformer (Gulati 2020)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  (85% of params)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Acoustic model; cache-aware chunked &amp; causal for streaming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Zipformer ICLR’24 · Mamba ’23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Stateless predictor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 + kernel-2 conv = label history, no LSTM (~0.13 M)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Ghodsi et al., ICASSP 2020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Joiner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Combines encoder + predictor → BPE-500 vocab (tanh)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RNN-T (Graves 2012)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Aux CTC head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Frame-synchronous aux loss → faster convergence + cheap fallback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CTC (Graves 2006)</a:t>
                      </a:r>
                      <a:endParaRPr lang="en-US" sz="9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502920" y="5760720"/>
            <a:ext cx="1120140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797296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(honest):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blocks are established, cited work — no new algorithm. Our contribution is engineering: one interface that swaps Conformer ↔ Mamba encoders across train / stream / export, a dependency-light pure-PyTorch RNN-T loss, and a synthetic learnable-audio test harness. The value is the distillation recipe + integration.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Distillation Training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444752"/>
            <a:ext cx="292608" cy="29260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1234440"/>
            <a:ext cx="4663440" cy="713232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74520" y="123444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audio   </a:t>
            </a:r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unlabeled speech + on-device wrist recordings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37960" y="1591056"/>
            <a:ext cx="457200" cy="0"/>
          </a:xfrm>
          <a:prstGeom prst="line">
            <a:avLst/>
          </a:prstGeom>
          <a:noFill/>
          <a:ln w="12700">
            <a:solidFill>
              <a:srgbClr val="55606E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086600" y="123444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transcripts needed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965960"/>
            <a:ext cx="0" cy="146304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188720" y="2322576"/>
            <a:ext cx="292608" cy="29260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37360" y="2112264"/>
            <a:ext cx="4663440" cy="713232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2112264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pseudo-labels   </a:t>
            </a:r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transcribes at scale (GPU)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2468880"/>
            <a:ext cx="457200" cy="0"/>
          </a:xfrm>
          <a:prstGeom prst="line">
            <a:avLst/>
          </a:prstGeom>
          <a:noFill/>
          <a:ln w="12700">
            <a:solidFill>
              <a:srgbClr val="55606E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086600" y="2112264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Verified: 0.05 WER on real speech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843784"/>
            <a:ext cx="0" cy="146304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88720" y="3200400"/>
            <a:ext cx="292608" cy="29260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37360" y="2990088"/>
            <a:ext cx="4663440" cy="713232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874520" y="299008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text   </a:t>
            </a:r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lowercase, strip punctuation → clean targets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3346704"/>
            <a:ext cx="457200" cy="0"/>
          </a:xfrm>
          <a:prstGeom prst="line">
            <a:avLst/>
          </a:prstGeom>
          <a:noFill/>
          <a:ln w="12700">
            <a:solidFill>
              <a:srgbClr val="55606E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7086600" y="299008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avoids UNK tokens (learnable)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721608"/>
            <a:ext cx="0" cy="146304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188720" y="4078224"/>
            <a:ext cx="292608" cy="29260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188720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737360" y="3867912"/>
            <a:ext cx="4663440" cy="713232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874520" y="3867912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student   </a:t>
            </a:r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RNN-T + aux CTC + CTC-KD distillation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37960" y="4224528"/>
            <a:ext cx="457200" cy="0"/>
          </a:xfrm>
          <a:prstGeom prst="line">
            <a:avLst/>
          </a:prstGeom>
          <a:noFill/>
          <a:ln w="12700">
            <a:solidFill>
              <a:srgbClr val="55606E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7086600" y="3867912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warmup + cosine decay for stability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4599432"/>
            <a:ext cx="0" cy="146304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188720" y="4956048"/>
            <a:ext cx="292608" cy="29260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188720" y="4956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737360" y="4745736"/>
            <a:ext cx="4663440" cy="713232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874520" y="474573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 QAT + prune   </a:t>
            </a:r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quantize encoder int4, joiner int8, embed fp16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537960" y="5102352"/>
            <a:ext cx="457200" cy="0"/>
          </a:xfrm>
          <a:prstGeom prst="line">
            <a:avLst/>
          </a:prstGeom>
          <a:noFill/>
          <a:ln w="12700">
            <a:solidFill>
              <a:srgbClr val="55606E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7086600" y="4745736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Near-lossless vs lossy PTQ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46120" y="5477256"/>
            <a:ext cx="0" cy="146304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188720" y="5833872"/>
            <a:ext cx="292608" cy="292608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188720" y="5833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737360" y="5623560"/>
            <a:ext cx="4663440" cy="713232"/>
          </a:xfrm>
          <a:prstGeom prst="roundRect">
            <a:avLst>
              <a:gd name="adj" fmla="val 7692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874520" y="562356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→ QNN   </a:t>
            </a:r>
            <a:pPr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static-shape ONNX graphs → context binary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537960" y="5980176"/>
            <a:ext cx="457200" cy="0"/>
          </a:xfrm>
          <a:prstGeom prst="line">
            <a:avLst/>
          </a:prstGeom>
          <a:noFill/>
          <a:ln w="12700">
            <a:solidFill>
              <a:srgbClr val="55606E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7086600" y="56235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loop in host code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Quantization — PTQ vs QAT,  int8 → int4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4300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F2F4F7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43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fp32  </a:t>
            </a:r>
            <a:pPr algn="ct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B/param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04872" y="1463040"/>
            <a:ext cx="219456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51760" y="114300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F2F4F7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143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  </a:t>
            </a:r>
            <a:pPr algn="ct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B/param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07992" y="1463040"/>
            <a:ext cx="219456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54880" y="114300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143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 </a:t>
            </a:r>
            <a:pPr algn="ct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B/param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11112" y="1463040"/>
            <a:ext cx="219456" cy="0"/>
          </a:xfrm>
          <a:prstGeom prst="line">
            <a:avLst/>
          </a:prstGeom>
          <a:noFill/>
          <a:ln w="19050">
            <a:solidFill>
              <a:srgbClr val="5560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0" y="114300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0" y="1143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  </a:t>
            </a:r>
            <a:pPr algn="ctr" indent="0" marL="0">
              <a:buNone/>
            </a:pPr>
            <a:r>
              <a:rPr lang="en-US" sz="10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 B/param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148840"/>
            <a:ext cx="5532120" cy="2286000"/>
          </a:xfrm>
          <a:prstGeom prst="roundRect">
            <a:avLst>
              <a:gd name="adj" fmla="val 2400"/>
            </a:avLst>
          </a:prstGeom>
          <a:solidFill>
            <a:srgbClr val="F2F4F7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240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PTQ — Post-Training Quantization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2606040"/>
            <a:ext cx="5166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Quantize AFTER training — fast, no retraining, calibration only.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~10 M params it is lossy: no redundancy to absorb rounding error.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dynamic-PTQ export = a size CEILING (norms / convs stay fp32).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2148840"/>
            <a:ext cx="5532120" cy="2286000"/>
          </a:xfrm>
          <a:prstGeom prst="roundRect">
            <a:avLst>
              <a:gd name="adj" fmla="val 2400"/>
            </a:avLst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2240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QAT — Quantization-Aware Training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606040"/>
            <a:ext cx="5166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fake-quant during training — the model LEARNS to compensate.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Near-lossless; required to reach int4 at this size. This is what ships.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W8A8 per-channel; keep the decoder embedding fp16 (cheap, accuracy-safe).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int8?  →  and how we reach int4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93776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(1 B/param): Conformer = 10.96 MB — OVER the 10 MB budget; Mamba = 8.55 MB fits but no headroom.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 (0.5 B/param): halves the encoder → Conformer 6.51 MB, Mamba 5.17 MB — both fit, with room.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int4 QAT with block-wise k-quant (per-group scales) on the encoder; joiner int8; embedding fp16; keep activation-sensitive layers higher precision.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Proof of Concept — Model 2 (Commands)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 —  theoretical basis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72768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= Conformer-CTC + keyword FST — streams trivially, cheap, always-on friendly.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Open-vocabulary: add or change a command by typing text — no retraining.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SLU: intent + slot → structured action  (“timer for 5 min” → {timer, 5}).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by construction: ~2.4 M params → fits the 5 MB budget with headroom.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006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WER  (held-out, lower is better)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5074920"/>
          <a:ext cx="548640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309360" y="1097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 —  built &amp; measured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1572768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2F4F7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719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 WER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2311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commands (80% words)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098280" y="1572768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2F4F7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9720" y="17190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2.55 MB</a:t>
            </a:r>
            <a:endParaRPr lang="en-US" sz="230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22311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deployed (1.35 MB int4)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309360" y="2944368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2F4F7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30906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 WER</a:t>
            </a:r>
            <a:endParaRPr lang="en-US" sz="23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36027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in-domain TTS clip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098280" y="2944368"/>
            <a:ext cx="2606040" cy="1188720"/>
          </a:xfrm>
          <a:prstGeom prst="roundRect">
            <a:avLst>
              <a:gd name="adj" fmla="val 4615"/>
            </a:avLst>
          </a:prstGeom>
          <a:solidFill>
            <a:srgbClr val="F2F4F7"/>
          </a:solidFill>
          <a:ln w="12700">
            <a:solidFill>
              <a:srgbClr val="D5DBE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89720" y="30906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min</a:t>
            </a:r>
            <a:endParaRPr lang="en-US" sz="2300" dirty="0"/>
          </a:p>
        </p:txBody>
      </p:sp>
      <p:sp>
        <p:nvSpPr>
          <p:cNvPr id="21" name="Text 18"/>
          <p:cNvSpPr txBox="1"/>
          <p:nvPr/>
        </p:nvSpPr>
        <p:spPr>
          <a:xfrm>
            <a:off x="9189720" y="36027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a free T4 GPU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45720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PoC for Model 2: </a:t>
            </a:r>
            <a:pPr indent="0" marL="0">
              <a:buNone/>
            </a:pPr>
            <a:r>
              <a:rPr lang="en-US" sz="1200" i="1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command speech → training → recognition → a 2.55 MB on-device model, running live on a MacBook.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Model 1 — Budget Proof &amp; Feasibility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 parameters × precision = size  (Mamba encoder)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56692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55448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8.04 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int4 + fp16 scales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4.52 MB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 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 MB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CTC head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 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 MB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Decoder (embed)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 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 MB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8.55 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int4-mixed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28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5.17 MB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343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10 MB budget, with 4.8 MB of headroom.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vs int4  (why int4 is needed)</a:t>
            </a:r>
            <a:endParaRPr lang="en-US" sz="15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508760"/>
          <a:ext cx="5257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Encoder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int4-mixed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Mamba / SSM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8.55 MB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28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5.17 MB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Conformer-lite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10.96 MB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428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6.51 MB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446520" y="306324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Conformer (10.96 MB) exceeds the 10 MB budget → int4 QAT brings it to 6.51 MB. int4 halves the encoder (0.5 vs 1 B/param).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2920" y="4800600"/>
            <a:ext cx="11201400" cy="1371600"/>
          </a:xfrm>
          <a:prstGeom prst="rect">
            <a:avLst/>
          </a:prstGeom>
          <a:solidFill>
            <a:srgbClr val="FBEEEE"/>
          </a:solidFill>
          <a:ln w="12700">
            <a:solidFill>
              <a:srgbClr val="E7C3C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85800" y="4892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— accuracy finding (defines Phase 2):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5212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Size is proven; accuracy is not yet — trained on only 2 h of data → WER 1.0 (learns silence).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Machinery is correct: same pipeline hits WER 0.00 on synthetic; Whisper teacher hits 0.05 on the same audio.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General ASR from scratch needs ~100× more data → Phase 2 distils on Loquacious (25k h).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State of the Art — ASR Landscape (Aug 2026)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58064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051560"/>
                <a:gridCol w="1005840"/>
                <a:gridCol w="9601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Watch?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A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IBM Granite Speech 4.1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Cohere Transcribe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Canary-Qwen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Parakeet-TDT-0.6B v3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 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Whisper-large-v3  (teacher)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 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Nemotron Streaming (int4)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 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8.20*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D7D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Moonshine Tiny (edge)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WristVoice  (our target)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 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7C8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C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92240" y="1097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WER — leading models  (lower is better)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0" y="141732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02920" y="580644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HF Open ASR Leaderboard, English avg WER (2026) — verify current values. * streaming / edge, different track. The top of the board is separated by &lt; 1 WER point; none of the leaders fit a watch.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Edge / On-Device ASR — the size race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size  (MB, log-scaled view)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17320"/>
          <a:ext cx="5806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5836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edge frontier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155448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/ cloud ASR: 2–2.5 B params, GB-scale, best WER (5.3–5.6%) — never fits a watch.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“Aggressively compressed edge” in the 2026 literature is still ~670 MB (Nemotron int4).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Truly tiny &amp; deployable: Moonshine (27–34 MB), Zipformer streaming (6–20 MB) — with an accuracy trade.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target: 5–10 MB int4 — at the aggressive edge; reachable only via design-small + distil + int4.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580644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the log scale: from ~3 GB (Whisper) to our 10 MB target is a ~300× range.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State of the Art — Techniques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43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Encoders &amp; on-device ASR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Zipformer (ICLR 2024): best open streaming transducer, accuracy-per-param; standard ops → NPU-deployable.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Samba-ASR / Mamba streaming (2025): O(1) recurrent state, battery-friendly; NPU op-support still maturing.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int4 (Microsoft, 2026): k-quant + mixed precision, ~1% WER cost — the compression recipe.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143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Teachers, KWS &amp; data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60020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Whisper-large / Parakeet-TDT-0.6B: strong teachers for pseudo-labeling and distillation.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KD for transducers (2110.03334) / Whisper-KD streaming (2409.13499): 10× smaller within ~1 WER.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HyperSpotter (2025): open-vocab keyword spotting via a text hypernetwork.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Datasets: Loquacious (commercial), SLURP (SLU, non-commercial), Google Speech Commands.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82296" cy="420624"/>
          </a:xfrm>
          <a:prstGeom prst="rect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Use Cases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11274552" cy="0"/>
          </a:xfrm>
          <a:prstGeom prst="line">
            <a:avLst/>
          </a:prstGeom>
          <a:noFill/>
          <a:ln w="19050">
            <a:solidFill>
              <a:srgbClr val="203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9304"/>
            <a:ext cx="310896" cy="310896"/>
          </a:xfrm>
          <a:prstGeom prst="ellipse">
            <a:avLst/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80744"/>
            <a:ext cx="128016" cy="128016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234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commands &amp; control   </a:t>
            </a:r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“Call mom”, “set a timer”, “play music” — always-on, low-latency, on the eNPU.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21992"/>
            <a:ext cx="310896" cy="310896"/>
          </a:xfrm>
          <a:prstGeom prst="ellipse">
            <a:avLst/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313432"/>
            <a:ext cx="128016" cy="128016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1671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SLU   </a:t>
            </a:r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+ slots: “timer for 5 minutes” → {intent: timer, duration: 5 min}. No cloud NLU.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154680"/>
            <a:ext cx="310896" cy="310896"/>
          </a:xfrm>
          <a:prstGeom prst="ellipse">
            <a:avLst/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46120"/>
            <a:ext cx="128016" cy="128016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099816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Dictation &amp; messaging   </a:t>
            </a:r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Short-form dictation for messages and notes with the streaming general model.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087368"/>
            <a:ext cx="310896" cy="310896"/>
          </a:xfrm>
          <a:prstGeom prst="ellipse">
            <a:avLst/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178808"/>
            <a:ext cx="128016" cy="128016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03250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&amp; private assistant   </a:t>
            </a:r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no connectivity; audio never leaves the device.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DCE6FA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5111496"/>
            <a:ext cx="128016" cy="128016"/>
          </a:xfrm>
          <a:prstGeom prst="ellipse">
            <a:avLst/>
          </a:prstGeom>
          <a:solidFill>
            <a:srgbClr val="1428A0"/>
          </a:solidFill>
          <a:ln w="12700">
            <a:solidFill>
              <a:srgbClr val="1428A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7280" y="496519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&amp; personalization   </a:t>
            </a:r>
            <a:pPr indent="0" marL="0">
              <a:buNone/>
            </a:pPr>
            <a:r>
              <a:rPr lang="en-US" sz="1250" dirty="0">
                <a:solidFill>
                  <a:srgbClr val="5560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on the user’s own voice for robust, personal recognition.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7233B"/>
          </a:solidFill>
          <a:ln w="12700">
            <a:solidFill>
              <a:srgbClr val="1723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" y="651052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WristVoice — On-Device Speech Recognition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125712" y="65105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9D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1005840"/>
          </a:xfrm>
          <a:prstGeom prst="rect">
            <a:avLst/>
          </a:prstGeom>
          <a:solidFill>
            <a:srgbClr val="0E1626"/>
          </a:solidFill>
          <a:ln w="12700">
            <a:solidFill>
              <a:srgbClr val="0E162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062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  github.com/codejawk/ASR    ·    Full code, technical report &amp; Colab notebooks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2026-08-30T16:02:19Z</dcterms:created>
  <dcterms:modified xsi:type="dcterms:W3CDTF">2026-08-30T16:02:19Z</dcterms:modified>
</cp:coreProperties>
</file>